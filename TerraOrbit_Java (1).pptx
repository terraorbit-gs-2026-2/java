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43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46520" y="-640080"/>
            <a:ext cx="3840480" cy="3840480"/>
          </a:xfrm>
          <a:prstGeom prst="ellipse">
            <a:avLst/>
          </a:prstGeom>
          <a:noFill/>
          <a:ln cap="flat" cmpd="sng" w="1587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086600" y="91440"/>
            <a:ext cx="2468880" cy="2468880"/>
          </a:xfrm>
          <a:prstGeom prst="ellipse">
            <a:avLst/>
          </a:prstGeom>
          <a:noFill/>
          <a:ln cap="flat" cmpd="sng" w="12700">
            <a:solidFill>
              <a:srgbClr val="EC1C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909560" y="960120"/>
            <a:ext cx="822960" cy="822960"/>
          </a:xfrm>
          <a:prstGeom prst="ellipse">
            <a:avLst/>
          </a:prstGeom>
          <a:solidFill>
            <a:srgbClr val="EC1C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3530" y="11740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6583680" y="3246120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052560" y="25603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40080" y="77724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1C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C1C5A"/>
                </a:solidFill>
                <a:latin typeface="Calibri"/>
                <a:ea typeface="Calibri"/>
                <a:cs typeface="Calibri"/>
                <a:sym typeface="Calibri"/>
              </a:rPr>
              <a:t>GLOBAL SOLUTION 2026/1   ·   JAVA ADVANCED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94360" y="132588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TerraOrbit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0080" y="2468880"/>
            <a:ext cx="5577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Monitoramento agrícola inteligente conectado à economia espacial.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0080" y="33832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API REST · Spring Boot · Microsserviços ·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40080" y="45262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Felipe Anselmo · João Vinícius · Matheus Mariotto · Henrique Sladkevicius · Victor de Carvalho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O desafio: economia espacial na Terra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14300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Satélites já orientam o agronegócio e antecipam desastres. Levamos esses dados para o produtor rural na trilha Agro &amp; Clima.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2057400"/>
            <a:ext cx="2560320" cy="2423160"/>
          </a:xfrm>
          <a:prstGeom prst="roundRect">
            <a:avLst>
              <a:gd fmla="val 377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822960" y="2331720"/>
            <a:ext cx="713232" cy="713232"/>
          </a:xfrm>
          <a:prstGeom prst="ellipse">
            <a:avLst/>
          </a:prstGeom>
          <a:solidFill>
            <a:srgbClr val="EC1C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400" y="2517160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822960" y="31546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O problema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22960" y="356616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Decisões agrícolas reagem tarde a eventos climáticos extremos.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337560" y="2057400"/>
            <a:ext cx="2560320" cy="2423160"/>
          </a:xfrm>
          <a:prstGeom prst="roundRect">
            <a:avLst>
              <a:gd fmla="val 377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611880" y="2331720"/>
            <a:ext cx="713232" cy="7132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7320" y="2517160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3611880" y="31546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A oportunidade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611880" y="356616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Dados de sensores (alimentáveis por satélite) revelam risco em tempo real.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126480" y="2057400"/>
            <a:ext cx="2560320" cy="2423160"/>
          </a:xfrm>
          <a:prstGeom prst="roundRect">
            <a:avLst>
              <a:gd fmla="val 377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400800" y="2331720"/>
            <a:ext cx="713232" cy="71323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6240" y="2517160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6400800" y="31546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A entrega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400800" y="356616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Alertas automáticos e recomendações agrícolas geradas por 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A solução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109728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Uma API REST que centraliza o monitoramento das fazendas e transforma leituras em ação.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669280" y="1234440"/>
            <a:ext cx="658368" cy="6583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0456" y="140561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6492240" y="120700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Fazendas &amp; sensores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92240" y="156362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Cadastro de fazendas e leituras de temperatura e umidade.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669280" y="2377440"/>
            <a:ext cx="658368" cy="658368"/>
          </a:xfrm>
          <a:prstGeom prst="ellipse">
            <a:avLst/>
          </a:prstGeom>
          <a:solidFill>
            <a:srgbClr val="EC1C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0456" y="254861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6492240" y="235000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Alertas automáticos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492240" y="270662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Gera alerta climático quando a média ultrapassa o limiar de risco.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669280" y="3520440"/>
            <a:ext cx="658368" cy="658368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40456" y="369161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6492240" y="349300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Recomendação por 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92240" y="384962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Modelo de linguagem sugere a ação agrícola e o nível de risco.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48640" y="2148840"/>
            <a:ext cx="4572000" cy="2331720"/>
          </a:xfrm>
          <a:prstGeom prst="roundRect">
            <a:avLst>
              <a:gd fmla="val 3922" name="adj"/>
            </a:avLst>
          </a:prstGeom>
          <a:solidFill>
            <a:srgbClr val="0B1437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22960" y="233172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14B8A6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194560" y="269748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entidades de domínio relacionadas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22960" y="3611880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Usuários · Fazendas · Sensores · Incidentes · Alertas · Recomendações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Arquitetura de microsserviços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40080" y="1554480"/>
            <a:ext cx="320040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101" y="19495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6"/>
          <p:cNvSpPr/>
          <p:nvPr/>
        </p:nvSpPr>
        <p:spPr>
          <a:xfrm>
            <a:off x="1600200" y="181051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terraorbit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600200" y="217627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porta 8080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914400" y="26060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API REST principal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B143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Spring Security + JWT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B143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JPA · HATEOAS · Cache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303520" y="1554480"/>
            <a:ext cx="320040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C1C5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532120" y="1783080"/>
            <a:ext cx="640080" cy="640080"/>
          </a:xfrm>
          <a:prstGeom prst="ellipse">
            <a:avLst/>
          </a:prstGeom>
          <a:solidFill>
            <a:srgbClr val="EC1C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8541" y="19495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6263640" y="181051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terraorbit-gaia-ai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263640" y="217627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porta 8081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577840" y="26060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Microsserviço de 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B143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Integra LLM (OpenRouter)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B143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Escala e falha isoladas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6"/>
          <p:cNvCxnSpPr/>
          <p:nvPr/>
        </p:nvCxnSpPr>
        <p:spPr>
          <a:xfrm>
            <a:off x="3840480" y="2331720"/>
            <a:ext cx="1463040" cy="0"/>
          </a:xfrm>
          <a:prstGeom prst="straightConnector1">
            <a:avLst/>
          </a:prstGeom>
          <a:noFill/>
          <a:ln cap="flat" cmpd="sng" w="25400">
            <a:solidFill>
              <a:srgbClr val="0B143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" name="Google Shape;91;p6"/>
          <p:cNvSpPr/>
          <p:nvPr/>
        </p:nvSpPr>
        <p:spPr>
          <a:xfrm>
            <a:off x="3840480" y="19933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050"/>
              <a:buFont typeface="Calibri"/>
              <a:buNone/>
            </a:pPr>
            <a:r>
              <a:rPr b="1" i="1" lang="en-US" sz="1050" u="none" cap="none" strike="noStrike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WebClient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40080" y="4069080"/>
            <a:ext cx="3200400" cy="640080"/>
          </a:xfrm>
          <a:prstGeom prst="roundRect">
            <a:avLst>
              <a:gd fmla="val 11429" name="adj"/>
            </a:avLst>
          </a:prstGeom>
          <a:solidFill>
            <a:srgbClr val="10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4206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1325880" y="42062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Oracle Database (JPA / Hibernate)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>
            <a:off x="2240280" y="384048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6"/>
          <p:cNvSpPr/>
          <p:nvPr/>
        </p:nvSpPr>
        <p:spPr>
          <a:xfrm>
            <a:off x="5303520" y="4069080"/>
            <a:ext cx="3200400" cy="640080"/>
          </a:xfrm>
          <a:prstGeom prst="roundRect">
            <a:avLst>
              <a:gd fmla="val 11429" name="adj"/>
            </a:avLst>
          </a:prstGeom>
          <a:solidFill>
            <a:srgbClr val="10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32120" y="4206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5989320" y="42062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OpenRouter · LLM externo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6"/>
          <p:cNvCxnSpPr/>
          <p:nvPr/>
        </p:nvCxnSpPr>
        <p:spPr>
          <a:xfrm>
            <a:off x="6903720" y="384048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Stack tecnológica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48640" y="1417320"/>
            <a:ext cx="2560320" cy="132588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804672" y="1691640"/>
            <a:ext cx="566928" cy="5669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073" y="183904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1508760" y="16459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Java 21 + Spring Boot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508760" y="216712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 da API REST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337560" y="1417320"/>
            <a:ext cx="2560320" cy="132588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3593592" y="1691640"/>
            <a:ext cx="566928" cy="566928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0993" y="183904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4297680" y="16459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Oracle + JPA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297680" y="216712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Persistência relacional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126480" y="1417320"/>
            <a:ext cx="2560320" cy="132588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6382512" y="1691640"/>
            <a:ext cx="566928" cy="566928"/>
          </a:xfrm>
          <a:prstGeom prst="ellipse">
            <a:avLst/>
          </a:prstGeom>
          <a:solidFill>
            <a:srgbClr val="EC1C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9913" y="183904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7086600" y="16459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Spring Security + JWT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086600" y="216712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Autenticação stateless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48640" y="2926080"/>
            <a:ext cx="2560320" cy="132588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804672" y="3200400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073" y="33478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1508760" y="31546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HATEOAS · Cache · CORS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508760" y="367588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Boas práticas REST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337560" y="2926080"/>
            <a:ext cx="2560320" cy="132588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3593592" y="3200400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40993" y="33478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4297680" y="31546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SpringDoc OpenAPI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297680" y="367588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Swagger interativo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126480" y="2926080"/>
            <a:ext cx="2560320" cy="132588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382512" y="3200400"/>
            <a:ext cx="566928" cy="566928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9913" y="33478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7086600" y="31546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WebClient + OpenRouter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7086600" y="367588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Integração com 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Funcionalidade real, não só CRUD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POST /recommendations/generate/{farmId}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48640" y="1828800"/>
            <a:ext cx="1874520" cy="219456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777240" y="2057400"/>
            <a:ext cx="566928" cy="5669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777240" y="2057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749808" y="27432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Agrega sensores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749808" y="3200400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Lê sensores ativos e calcula médias de temperatura e umidade.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8"/>
          <p:cNvCxnSpPr/>
          <p:nvPr/>
        </p:nvCxnSpPr>
        <p:spPr>
          <a:xfrm>
            <a:off x="2423160" y="292608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B143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" name="Google Shape;149;p8"/>
          <p:cNvSpPr/>
          <p:nvPr/>
        </p:nvSpPr>
        <p:spPr>
          <a:xfrm>
            <a:off x="2651760" y="1828800"/>
            <a:ext cx="1874520" cy="219456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2880360" y="2057400"/>
            <a:ext cx="566928" cy="566928"/>
          </a:xfrm>
          <a:prstGeom prst="ellipse">
            <a:avLst/>
          </a:prstGeom>
          <a:solidFill>
            <a:srgbClr val="EC1C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2880360" y="2057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2852928" y="27432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Avalia risco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2852928" y="3200400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a média ≥ 30°C, cria automaticamente um alerta climático.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8"/>
          <p:cNvCxnSpPr/>
          <p:nvPr/>
        </p:nvCxnSpPr>
        <p:spPr>
          <a:xfrm>
            <a:off x="4526280" y="292608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B143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8"/>
          <p:cNvSpPr/>
          <p:nvPr/>
        </p:nvSpPr>
        <p:spPr>
          <a:xfrm>
            <a:off x="4754880" y="1828800"/>
            <a:ext cx="1874520" cy="219456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983480" y="2057400"/>
            <a:ext cx="566928" cy="5669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983480" y="2057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956048" y="27432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Consulta a 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956048" y="3200400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Envia as médias ao microsserviço Gaia AI via WebClient.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8"/>
          <p:cNvCxnSpPr/>
          <p:nvPr/>
        </p:nvCxnSpPr>
        <p:spPr>
          <a:xfrm>
            <a:off x="6629400" y="292608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B143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8"/>
          <p:cNvSpPr/>
          <p:nvPr/>
        </p:nvSpPr>
        <p:spPr>
          <a:xfrm>
            <a:off x="6858000" y="1828800"/>
            <a:ext cx="1874520" cy="219456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7086600" y="2057400"/>
            <a:ext cx="566928" cy="566928"/>
          </a:xfrm>
          <a:prstGeom prst="ellipse">
            <a:avLst/>
          </a:prstGeom>
          <a:solidFill>
            <a:srgbClr val="EC1C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7086600" y="2057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059168" y="27432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Persiste &amp; responde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059168" y="3200400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Salva a recomendação e retorna com links HATEOAS.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Segurança &amp; superfície da API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48640" y="1325880"/>
            <a:ext cx="3977640" cy="310896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822960" y="1600200"/>
            <a:ext cx="658368" cy="658368"/>
          </a:xfrm>
          <a:prstGeom prst="ellipse">
            <a:avLst/>
          </a:prstGeom>
          <a:solidFill>
            <a:srgbClr val="EC1C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136" y="177137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1627632" y="16916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1437"/>
                </a:solidFill>
                <a:latin typeface="Cambria"/>
                <a:ea typeface="Cambria"/>
                <a:cs typeface="Cambria"/>
                <a:sym typeface="Cambria"/>
              </a:rPr>
              <a:t>Segurança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914400" y="246888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Autenticação stateless com JWT (Bearer, 24h)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43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Senhas protegidas com BCrypt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43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Rotas públicas: /auth, /swagger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43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/admin restrito ao papel ADMIN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4709160" y="1325880"/>
            <a:ext cx="3886200" cy="3108960"/>
          </a:xfrm>
          <a:prstGeom prst="roundRect">
            <a:avLst>
              <a:gd fmla="val 2941" name="adj"/>
            </a:avLst>
          </a:prstGeom>
          <a:solidFill>
            <a:srgbClr val="0B1437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4983480" y="1600200"/>
            <a:ext cx="658368" cy="6583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4656" y="177137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/>
          <p:nvPr/>
        </p:nvSpPr>
        <p:spPr>
          <a:xfrm>
            <a:off x="5788152" y="16916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Recursos REST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074920" y="2468880"/>
            <a:ext cx="3291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/auth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7D2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7D2FE"/>
                </a:solidFill>
                <a:latin typeface="Courier New"/>
                <a:ea typeface="Courier New"/>
                <a:cs typeface="Courier New"/>
                <a:sym typeface="Courier New"/>
              </a:rPr>
              <a:t>/users   ·   /farms   ·   /sensors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7D2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7D2FE"/>
                </a:solidFill>
                <a:latin typeface="Courier New"/>
                <a:ea typeface="Courier New"/>
                <a:cs typeface="Courier New"/>
                <a:sym typeface="Courier New"/>
              </a:rPr>
              <a:t>/incidents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7D2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7D2FE"/>
                </a:solidFill>
                <a:latin typeface="Courier New"/>
                <a:ea typeface="Courier New"/>
                <a:cs typeface="Courier New"/>
                <a:sym typeface="Courier New"/>
              </a:rPr>
              <a:t>/alerts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7D2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7D2FE"/>
                </a:solidFill>
                <a:latin typeface="Courier New"/>
                <a:ea typeface="Courier New"/>
                <a:cs typeface="Courier New"/>
                <a:sym typeface="Courier New"/>
              </a:rPr>
              <a:t>/recommendations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ourier New"/>
              <a:buNone/>
            </a:pPr>
            <a:r>
              <a:rPr b="0" i="1" lang="en-US" sz="12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Swagger UI · /swagger-ui.html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437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-914400" y="2194560"/>
            <a:ext cx="3840480" cy="3840480"/>
          </a:xfrm>
          <a:prstGeom prst="ellipse">
            <a:avLst/>
          </a:prstGeom>
          <a:noFill/>
          <a:ln cap="flat" cmpd="sng" w="1587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7680960" y="-1097280"/>
            <a:ext cx="3291840" cy="3291840"/>
          </a:xfrm>
          <a:prstGeom prst="ellipse">
            <a:avLst/>
          </a:prstGeom>
          <a:noFill/>
          <a:ln cap="flat" cmpd="sng" w="12700">
            <a:solidFill>
              <a:srgbClr val="EC1C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4160520" y="86868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8264" y="110642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/>
          <p:nvPr/>
        </p:nvSpPr>
        <p:spPr>
          <a:xfrm>
            <a:off x="914400" y="19659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Demonstração ao vivo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Aplicação em execução · CRUD · alertas · recomendação por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914400" y="35204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Repositório: </a:t>
            </a: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github.com/TerraOrbit-gs-2026-2/java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Vídeo: </a:t>
            </a: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youtu.be/pnGlyrtOQuY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